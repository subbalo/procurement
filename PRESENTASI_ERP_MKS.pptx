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9144000" y="0"/>
            <a:ext cx="3017520" cy="3840480"/>
          </a:xfrm>
          <a:prstGeom prst="rtTriangle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607040" y="3108960"/>
            <a:ext cx="1554480" cy="3749039"/>
          </a:xfrm>
          <a:prstGeom prst="rtTriangle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2194560" cy="32004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INTERNAL INITIATIVE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058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MKS Management</a:t>
            </a:r>
          </a:p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C27A1A"/>
                </a:solidFill>
                <a:latin typeface="Calibri"/>
              </a:rPr>
              <a:t>Digital Transformation for Better, Faster &amp; ISO-Compliant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Dari Excel &amp; tanda-tangan basah → Aplikasi web terintegrasi end-to-end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8C2CC"/>
                </a:solidFill>
                <a:latin typeface="Calibri"/>
              </a:rPr>
              <a:t>Prepared by  ·  Purchasing Department          Started  ·  23 Juli 2026          Status  ·  Live-Testing in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5C"/>
                </a:solidFill>
                <a:latin typeface="Calibri"/>
              </a:rPr>
              <a:t>SLIDE 2 · LATAR 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Kenapa Kami Bangun Sistem Ini?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5321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1828800" cy="365760"/>
          </a:xfrm>
          <a:prstGeom prst="rect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56231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SEBELUMNYA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Data &amp; Approval Manual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44952"/>
            <a:ext cx="109728" cy="109728"/>
          </a:xfrm>
          <a:prstGeom prst="ellipse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7180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Data tersebar di banyak file Excel per departemen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29000"/>
            <a:ext cx="109728" cy="109728"/>
          </a:xfrm>
          <a:prstGeom prst="ellipse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35584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Drawing &amp; BOM update manual — sering out-of-date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813048"/>
            <a:ext cx="109728" cy="109728"/>
          </a:xfrm>
          <a:prstGeom prst="ellipse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373989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Approval via cetak &amp; tanda-tangan basah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197096"/>
            <a:ext cx="109728" cy="109728"/>
          </a:xfrm>
          <a:prstGeom prst="ellipse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123944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Distribusi controlled copy sulit dikontrol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581144"/>
            <a:ext cx="109728" cy="109728"/>
          </a:xfrm>
          <a:prstGeom prst="ellipse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507992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Susah tracking status inquiry, SO, revisi drawing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965192"/>
            <a:ext cx="109728" cy="109728"/>
          </a:xfrm>
          <a:prstGeom prst="ellipse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48920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Kordinasi antar departemen lambat &amp; rawan miss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691640"/>
            <a:ext cx="5532120" cy="44805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960" y="1874519"/>
            <a:ext cx="2194560" cy="365760"/>
          </a:xfrm>
          <a:prstGeom prst="rect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856231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PURCHASING INITIATIVE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377440"/>
            <a:ext cx="4937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"Kalau nunggu vendor ERP 6 bulan + ratusan juta,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kita bangun sendiri sesuai proses MKS."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7033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1E8E0"/>
                </a:solidFill>
                <a:latin typeface="Calibri"/>
              </a:rPr>
              <a:t>▶  Dimulai 23 Juli 2026 — in-house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1605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1E8E0"/>
                </a:solidFill>
                <a:latin typeface="Calibri"/>
              </a:rPr>
              <a:t>▶  Full-stack: React · FastAPI · MongoDB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6177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1E8E0"/>
                </a:solidFill>
                <a:latin typeface="Calibri"/>
              </a:rPr>
              <a:t>▶  Custom 100% untuk workflow MKS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0749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1E8E0"/>
                </a:solidFill>
                <a:latin typeface="Calibri"/>
              </a:rPr>
              <a:t>▶  Zero lisensi vendor · data 100% milik MKS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5321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1E8E0"/>
                </a:solidFill>
                <a:latin typeface="Calibri"/>
              </a:rPr>
              <a:t>▶  Bisa berkembang mengikuti kebutuhan lapangan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7"/>
                </a:solidFill>
                <a:latin typeface="Calibri"/>
              </a:rPr>
              <a:t>MKS Management System · Digital ERP Initiative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7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5C"/>
                </a:solidFill>
                <a:latin typeface="Calibri"/>
              </a:rPr>
              <a:t>SLIDE 3 · YANG SUDAH SIAP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8 Modul Departemen — Terintegrasi Penuh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02920" cy="118872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029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8308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2103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334455"/>
                </a:solidFill>
                <a:latin typeface="Calibri"/>
              </a:rPr>
              <a:t>Inquiry Costing · Quotation · Master Customer · Drawing Request Form (MKS-F-ENG-001)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69164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691640"/>
            <a:ext cx="502920" cy="118872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5029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178308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103120"/>
            <a:ext cx="2103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334455"/>
                </a:solidFill>
                <a:latin typeface="Calibri"/>
              </a:rPr>
              <a:t>Master Drawing List (MKS-F-ENG-005) · BOM Preparation · Approval Workflow · Assign Engineer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9164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691640"/>
            <a:ext cx="502920" cy="118872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691640"/>
            <a:ext cx="5029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78308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PURCHASING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103120"/>
            <a:ext cx="2103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334455"/>
                </a:solidFill>
                <a:latin typeface="Calibri"/>
              </a:rPr>
              <a:t>BOM Consolidation · PO Management · Vendor Master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69164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691640"/>
            <a:ext cx="502920" cy="118872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691640"/>
            <a:ext cx="5029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178308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STORE / GUDANG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103120"/>
            <a:ext cx="2103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334455"/>
                </a:solidFill>
                <a:latin typeface="Calibri"/>
              </a:rPr>
              <a:t>Incoming Receipt · MCL/MIF auto-generate · Stock Report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06324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063240"/>
            <a:ext cx="502920" cy="118872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063240"/>
            <a:ext cx="5029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15468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QC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474720"/>
            <a:ext cx="2103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334455"/>
                </a:solidFill>
                <a:latin typeface="Calibri"/>
              </a:rPr>
              <a:t>Material Incoming Inspection (MII) · TTD Digital Drawing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306324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83280" y="3063240"/>
            <a:ext cx="502920" cy="118872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3063240"/>
            <a:ext cx="5029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40" y="315468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FINANCE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40" y="3474720"/>
            <a:ext cx="2103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334455"/>
                </a:solidFill>
                <a:latin typeface="Calibri"/>
              </a:rPr>
              <a:t>View + Export data lintas departemen — read-only guard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06324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3063240"/>
            <a:ext cx="502920" cy="118872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3063240"/>
            <a:ext cx="5029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15468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DOC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474720"/>
            <a:ext cx="2103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334455"/>
                </a:solidFill>
                <a:latin typeface="Calibri"/>
              </a:rPr>
              <a:t>DC Stamp · SO Stamp Produksi · Controlled Drawing DB · Distribution Record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06324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3063240"/>
            <a:ext cx="502920" cy="118872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3063240"/>
            <a:ext cx="5029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315468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ADMIN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38360" y="3474720"/>
            <a:ext cx="2103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334455"/>
                </a:solidFill>
                <a:latin typeface="Calibri"/>
              </a:rPr>
              <a:t>User Management · Role-Based Access · Audit Logs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7"/>
                </a:solidFill>
                <a:latin typeface="Calibri"/>
              </a:rPr>
              <a:t>MKS Management System · Digital ERP Initiative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7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5C"/>
                </a:solidFill>
                <a:latin typeface="Calibri"/>
              </a:rPr>
              <a:t>SLIDE 4 · WORKFLOW UTAMA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Alur Inquiry → Approval → Produksi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2194560" cy="59436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737360"/>
            <a:ext cx="94640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1783080"/>
            <a:ext cx="9281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Buat Inquiry Costing · Buat SO · Buat Drawing Request Form (MKS-F-ENG-001)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Otomatis TTD 'Requested By' — form no auto-generate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463040" y="2286000"/>
            <a:ext cx="274320" cy="137160"/>
          </a:xfrm>
          <a:prstGeom prst="down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423160"/>
            <a:ext cx="2194560" cy="594360"/>
          </a:xfrm>
          <a:prstGeom prst="rect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ENG HEAD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2423160"/>
            <a:ext cx="94640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39" y="2468880"/>
            <a:ext cx="9281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Terima DRF → Accept (auto-TTD 'Received By')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Assign Engineer (mis. Trisna) — hanya assignee yg boleh edit drawing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463040" y="2971800"/>
            <a:ext cx="274320" cy="137160"/>
          </a:xfrm>
          <a:prstGeom prst="down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2194560" cy="59436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08960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ENG STAFF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3108960"/>
            <a:ext cx="94640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39" y="3154680"/>
            <a:ext cx="9281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Buat Drawing + BOM · Upload PDF Drawing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OCR auto-verifikasi drawing_no sesuai form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463040" y="3657600"/>
            <a:ext cx="274320" cy="137160"/>
          </a:xfrm>
          <a:prstGeom prst="down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2194560" cy="5943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94760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APPROVAL BERJENJANG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3794760"/>
            <a:ext cx="94640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39" y="3840480"/>
            <a:ext cx="9281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Eng Head TTD → QC TTD → Sales TTD (isi data SO Produksi)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TTD digital PNG · posisi ditentukan approver · watermark otomatis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463040" y="4343400"/>
            <a:ext cx="274320" cy="137160"/>
          </a:xfrm>
          <a:prstGeom prst="down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480560"/>
            <a:ext cx="2194560" cy="594360"/>
          </a:xfrm>
          <a:prstGeom prst="rect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480560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DOC CONTROL (SALMA)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80" y="4480560"/>
            <a:ext cx="94640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39" y="4526280"/>
            <a:ext cx="9281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DC Stamp semua dokumen (MKS + Customer Ref + Extras)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SO Stamp Produksi otomatis terisi dari data Sales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1463040" y="5029200"/>
            <a:ext cx="274320" cy="137160"/>
          </a:xfrm>
          <a:prstGeom prst="downArrow">
            <a:avLst/>
          </a:prstGeom>
          <a:solidFill>
            <a:srgbClr val="64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166360"/>
            <a:ext cx="2194560" cy="59436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166360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PRODUKSI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5166360"/>
            <a:ext cx="94640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39" y="5212080"/>
            <a:ext cx="9281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Terima drawing controlled + SO Stamp untuk mulai kerja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7"/>
                </a:solidFill>
                <a:latin typeface="Calibri"/>
              </a:rPr>
              <a:t>MKS Management System · Digital ERP Initiative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7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5C"/>
                </a:solidFill>
                <a:latin typeface="Calibri"/>
              </a:rPr>
              <a:t>SLIDE 5 · KELEBIHAN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Digital Signature (TTD Digital) — Zero Paper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5321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1280160" cy="320040"/>
          </a:xfrm>
          <a:prstGeom prst="rect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56231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Sebelumnya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953512"/>
            <a:ext cx="109728" cy="109728"/>
          </a:xfrm>
          <a:prstGeom prst="ellipse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88036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Cetak drawing → antri TTD Eng Head → QC → Sales → DC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337560"/>
            <a:ext cx="109728" cy="109728"/>
          </a:xfrm>
          <a:prstGeom prst="ellipse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26440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Butuh 3–5 hari untuk 1 drawing approved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364845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Kertas menumpuk &amp; risiko hilang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105656"/>
            <a:ext cx="109728" cy="109728"/>
          </a:xfrm>
          <a:prstGeom prst="ellipse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032504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Butuh audit trail manual (buku expedisi)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691640"/>
            <a:ext cx="55321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1874519"/>
            <a:ext cx="1280160" cy="32004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856231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DIGITAL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2860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Sekarang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2953512"/>
            <a:ext cx="109728" cy="109728"/>
          </a:xfrm>
          <a:prstGeom prst="ellipse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288036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Setiap user upload PNG TTD 1x di profile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3337560"/>
            <a:ext cx="109728" cy="109728"/>
          </a:xfrm>
          <a:prstGeom prst="ellipse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326440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Approver klik posisi di PDF → pilih ukuran S/M/L → confirm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3721608"/>
            <a:ext cx="109728" cy="109728"/>
          </a:xfrm>
          <a:prstGeom prst="ellipse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3992" y="364845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Tanggal &amp; jam otomatis di sebelah TTD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4105656"/>
            <a:ext cx="109728" cy="109728"/>
          </a:xfrm>
          <a:prstGeom prst="ellipse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3992" y="4032504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1 drawing bisa approved &lt;30 menit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4489704"/>
            <a:ext cx="109728" cy="109728"/>
          </a:xfrm>
          <a:prstGeom prst="ellipse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93992" y="4416552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Watermark 'UNCONTROLLED COPY' otomatis untuk non-DC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4873752"/>
            <a:ext cx="109728" cy="109728"/>
          </a:xfrm>
          <a:prstGeom prst="ellipse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93992" y="480060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ISO 9001 compliant — full audit trail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7"/>
                </a:solidFill>
                <a:latin typeface="Calibri"/>
              </a:rPr>
              <a:t>MKS Management System · Digital ERP Initiative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7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5C"/>
                </a:solidFill>
                <a:latin typeface="Calibri"/>
              </a:rPr>
              <a:t>SLIDE 6 · KELEBIHAN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BOM &amp; Drawing Terintegrasi — Single Source of Truth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5321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1280160" cy="320040"/>
          </a:xfrm>
          <a:prstGeom prst="rect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56231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MASALAH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Sebelumnya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953512"/>
            <a:ext cx="109728" cy="109728"/>
          </a:xfrm>
          <a:prstGeom prst="ellipse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88036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BOM Excel di komputer engineer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337560"/>
            <a:ext cx="109728" cy="109728"/>
          </a:xfrm>
          <a:prstGeom prst="ellipse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26440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Drawing PDF di folder shared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364845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Purchasing minta print — bisa jadi versi lama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105656"/>
            <a:ext cx="109728" cy="109728"/>
          </a:xfrm>
          <a:prstGeom prst="ellipse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032504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Salah beli material karena BOM out-of-date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691640"/>
            <a:ext cx="55321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1874519"/>
            <a:ext cx="1280160" cy="320040"/>
          </a:xfrm>
          <a:prstGeom prst="rect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856231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SOLUSI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2860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Sekarang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2953512"/>
            <a:ext cx="109728" cy="109728"/>
          </a:xfrm>
          <a:prstGeom prst="ellipse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288036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1 drawing = 1 BOM di database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3337560"/>
            <a:ext cx="109728" cy="109728"/>
          </a:xfrm>
          <a:prstGeom prst="ellipse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326440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Purchasing auto-lihat BOM ter-approved terbaru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3721608"/>
            <a:ext cx="109728" cy="109728"/>
          </a:xfrm>
          <a:prstGeom prst="ellipse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3992" y="364845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Revisi drawing → auto-notif ke Purchasing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4105656"/>
            <a:ext cx="109728" cy="109728"/>
          </a:xfrm>
          <a:prstGeom prst="ellipse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3992" y="4032504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Export BOM ke Excel template MKS (dengan TextBox &amp; Shapes)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4489704"/>
            <a:ext cx="109728" cy="109728"/>
          </a:xfrm>
          <a:prstGeom prst="ellipse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93992" y="4416552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Zero mistake dari BOM lama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7"/>
                </a:solidFill>
                <a:latin typeface="Calibri"/>
              </a:rPr>
              <a:t>MKS Management System · Digital ERP Initiative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7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5C"/>
                </a:solidFill>
                <a:latin typeface="Calibri"/>
              </a:rPr>
              <a:t>SLIDE 7 · KELEBIHAN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Role-Based Permission — Data Aman &amp; Terkontrol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1120140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3736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YANG BISA DIAKSES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7373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YANG TIDAK BISA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11201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4389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Inquiry · Quotation · DRF · TTD Drawing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94560"/>
            <a:ext cx="3840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B22A2E"/>
                </a:solidFill>
                <a:latin typeface="Calibri"/>
              </a:rPr>
              <a:t>Data purchasing / cost purchasing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97480"/>
            <a:ext cx="11201400" cy="50292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Eng Head (Riski)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697480"/>
            <a:ext cx="4389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Assign Engineer · Approve · lihat semua drawing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840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B22A2E"/>
                </a:solidFill>
                <a:latin typeface="Calibri"/>
              </a:rPr>
              <a:t>Tidak edit drawing yg bukan assign-nya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00400"/>
            <a:ext cx="11201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Eng Staff (Trisna)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200400"/>
            <a:ext cx="4389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Drawing yang di-assign ke 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200400"/>
            <a:ext cx="3840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B22A2E"/>
                </a:solidFill>
                <a:latin typeface="Calibri"/>
              </a:rPr>
              <a:t>Tidak lihat drawing engineer lain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11201400" cy="50292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0332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QC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703320"/>
            <a:ext cx="4389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Material Incoming Inspection · TTD Drawing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703320"/>
            <a:ext cx="3840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B22A2E"/>
                </a:solidFill>
                <a:latin typeface="Calibri"/>
              </a:rPr>
              <a:t>Data Finance &amp; Purchasing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206240"/>
            <a:ext cx="11201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0624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Doc Control (Salma)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206240"/>
            <a:ext cx="4389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DC Stamp · SO Stamp · Controlled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206240"/>
            <a:ext cx="3840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B22A2E"/>
                </a:solidFill>
                <a:latin typeface="Calibri"/>
              </a:rPr>
              <a:t>Modul finance &amp; sales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09160"/>
            <a:ext cx="11201400" cy="50292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70916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Finance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709160"/>
            <a:ext cx="4389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View + Export semua data (read-only)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709160"/>
            <a:ext cx="3840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B22A2E"/>
                </a:solidFill>
                <a:latin typeface="Calibri"/>
              </a:rPr>
              <a:t>Tidak bisa modify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212080"/>
            <a:ext cx="11201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21208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Admin (Susanto)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5212080"/>
            <a:ext cx="4389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Full control · manage users · audit logs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212080"/>
            <a:ext cx="3840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B22A2E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7"/>
                </a:solidFill>
                <a:latin typeface="Calibri"/>
              </a:rPr>
              <a:t>MKS Management System · Digital ERP Initiative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7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5C"/>
                </a:solidFill>
                <a:latin typeface="Calibri"/>
              </a:rPr>
              <a:t>SLIDE 8 · KELEBIHAN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Document Control Digital — ISO 9001 Compliance Otomatis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783080"/>
            <a:ext cx="685800" cy="685800"/>
          </a:xfrm>
          <a:prstGeom prst="ellipse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6858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01368"/>
            <a:ext cx="10698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Document Distribution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85416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Log setiap drawing yang di-approve — tercatat siapa, kapan, jam berapa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651760"/>
            <a:ext cx="685800" cy="685800"/>
          </a:xfrm>
          <a:prstGeom prst="ellipse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6858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70048"/>
            <a:ext cx="10698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DC Stamp Interaktif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54096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Klik posisi di PDF → cap merah MKS + tanggal otomatis muncul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520439"/>
            <a:ext cx="685800" cy="685800"/>
          </a:xfrm>
          <a:prstGeom prst="ellipse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20439"/>
            <a:ext cx="6858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38727"/>
            <a:ext cx="10698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Multi-Document Stamping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22775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MKS Drawing + Customer Ref + Extras semua bisa di-stamp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389120"/>
            <a:ext cx="685800" cy="685800"/>
          </a:xfrm>
          <a:prstGeom prst="ellipse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89120"/>
            <a:ext cx="6858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07408"/>
            <a:ext cx="10698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SO Stamp Produksi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791456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Data SO/PO/Qty/Customer/Due Date otomatis dari TTD Sales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5257800"/>
            <a:ext cx="685800" cy="685800"/>
          </a:xfrm>
          <a:prstGeom prst="ellipse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257800"/>
            <a:ext cx="6858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276088"/>
            <a:ext cx="10698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Controlled Drawing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660136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Master repository controlled copy — siap audit ISO kapan saja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035040"/>
            <a:ext cx="11201400" cy="457200"/>
          </a:xfrm>
          <a:prstGeom prst="rect">
            <a:avLst/>
          </a:prstGeom>
          <a:solidFill>
            <a:srgbClr val="D1E8E0"/>
          </a:solidFill>
          <a:ln>
            <a:solidFill>
              <a:srgbClr val="0F7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035040"/>
            <a:ext cx="11201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765C"/>
                </a:solidFill>
                <a:latin typeface="Calibri"/>
              </a:rPr>
              <a:t>✓  Full audit trail otomatis — hemat 2–3 hari kerja saat audit ISO tahunan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7"/>
                </a:solidFill>
                <a:latin typeface="Calibri"/>
              </a:rPr>
              <a:t>MKS Management System · Digital ERP Initiative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7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5C"/>
                </a:solidFill>
                <a:latin typeface="Calibri"/>
              </a:rPr>
              <a:t>SLIDE 9 · KELEBIHAN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PDF OCR Validation — Anti Salah Upload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11201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Sistem otomatis membaca isi PDF dan mencegah salah upload: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06040"/>
            <a:ext cx="1280160" cy="50292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06040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OCR membaca teks di dalam PDF yang di-upload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83280"/>
            <a:ext cx="1280160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COCOK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383280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Bandingkan drawing_no di PDF dengan drawing_no di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160520"/>
            <a:ext cx="1280160" cy="50292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4160520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Kalau tidak match → banner merah muncul, user wajib konfirmasi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937760"/>
            <a:ext cx="1280160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937760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Mencegah upload drawing yang salah untuk project berbeda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7"/>
                </a:solidFill>
                <a:latin typeface="Calibri"/>
              </a:rPr>
              <a:t>MKS Management System · Digital ERP Initiative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7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5C"/>
                </a:solidFill>
                <a:latin typeface="Calibri"/>
              </a:rPr>
              <a:t>SLIDE 10 · FITUR PENDUKUNG 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Detail Kecil yang Membuat Sistem Enak Dipakai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532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457200" cy="82296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457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810512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Pagination Global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121408"/>
            <a:ext cx="4892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Semua tabel dropdown page size — konsisten di semua modul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737360"/>
            <a:ext cx="5532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37360"/>
            <a:ext cx="457200" cy="82296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737360"/>
            <a:ext cx="457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1810512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Global Search (Ctrl+K)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2121408"/>
            <a:ext cx="4892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Cari drawing, SO, customer, part number dari mana saja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51760"/>
            <a:ext cx="5532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651760"/>
            <a:ext cx="457200" cy="82296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51760"/>
            <a:ext cx="457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2724912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Notifikasi 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035808"/>
            <a:ext cx="4892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Bell icon di header · badge count per role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651760"/>
            <a:ext cx="5532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2651760"/>
            <a:ext cx="457200" cy="82296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651760"/>
            <a:ext cx="457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2724912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Auto-Generate Nomor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3035808"/>
            <a:ext cx="4892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DRF, Quotation, Drawing, MII, MCL, MIF, SO — format ISO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566160"/>
            <a:ext cx="5532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566160"/>
            <a:ext cx="457200" cy="82296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566160"/>
            <a:ext cx="457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3639312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Excel Template Dinamis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" y="3950208"/>
            <a:ext cx="4892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Admin upload template baru → sistem auto-detect placeholder {{...}}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566160"/>
            <a:ext cx="5532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3566160"/>
            <a:ext cx="457200" cy="82296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566160"/>
            <a:ext cx="457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8" y="3639312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PDF Preview Bypass IDM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3950208"/>
            <a:ext cx="4892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Pakai Blob URL — konsisten di semua komputer user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480560"/>
            <a:ext cx="5532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480560"/>
            <a:ext cx="457200" cy="82296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480560"/>
            <a:ext cx="457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" y="4553712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Repeat Order 1-Klik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" y="4864608"/>
            <a:ext cx="4892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Copy SO lama + BOM lama + drawing lama sekali klik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4480560"/>
            <a:ext cx="5532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4480560"/>
            <a:ext cx="457200" cy="82296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4480560"/>
            <a:ext cx="457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39128" y="4553712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Cloud Deployed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39128" y="4864608"/>
            <a:ext cx="4892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Preview URL — bisa diakses dari mana saja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394960"/>
            <a:ext cx="5532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5394960"/>
            <a:ext cx="457200" cy="82296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394960"/>
            <a:ext cx="457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" y="5468112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MongoDB Backend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" y="5779008"/>
            <a:ext cx="4892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Handle jutaan record tanpa lag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5394960"/>
            <a:ext cx="5532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72200" y="5394960"/>
            <a:ext cx="457200" cy="82296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5394960"/>
            <a:ext cx="457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39128" y="5468112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Hot Reload Deployment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39128" y="5779008"/>
            <a:ext cx="4892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Fitur baru go-live tanpa downtime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7"/>
                </a:solidFill>
                <a:latin typeface="Calibri"/>
              </a:rPr>
              <a:t>MKS Management System · Digital ERP Initiative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7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5C"/>
                </a:solidFill>
                <a:latin typeface="Calibri"/>
              </a:rPr>
              <a:t>SLIDE PROGRESS ·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Progress Per Departemen — Update Feb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23774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SALES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755648"/>
            <a:ext cx="5943600" cy="201167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1755648"/>
            <a:ext cx="5052059" cy="201167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691640"/>
            <a:ext cx="64008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F765C"/>
                </a:solidFill>
                <a:latin typeface="Calibri"/>
              </a:rPr>
              <a:t>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938528"/>
            <a:ext cx="594360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334455"/>
                </a:solidFill>
                <a:latin typeface="Calibri"/>
              </a:rPr>
              <a:t>Sisa: merapikan Drawing Request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75688"/>
            <a:ext cx="23774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ENGINEERING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139696"/>
            <a:ext cx="5943600" cy="201167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2139696"/>
            <a:ext cx="4754880" cy="201167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075688"/>
            <a:ext cx="64008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F765C"/>
                </a:solidFill>
                <a:latin typeface="Calibri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22576"/>
            <a:ext cx="594360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334455"/>
                </a:solidFill>
                <a:latin typeface="Calibri"/>
              </a:rPr>
              <a:t>Sisa: tambah ECN + ECR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459736"/>
            <a:ext cx="23774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PURCHASING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523744"/>
            <a:ext cx="5943600" cy="201167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08960" y="2523744"/>
            <a:ext cx="5349240" cy="201167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459736"/>
            <a:ext cx="64008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F765C"/>
                </a:solidFill>
                <a:latin typeface="Calibri"/>
              </a:rPr>
              <a:t>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706624"/>
            <a:ext cx="594360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334455"/>
                </a:solidFill>
                <a:latin typeface="Calibri"/>
              </a:rPr>
              <a:t>Sudah mature — BOM consolidation, PO, Vendor 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43784"/>
            <a:ext cx="23774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STORE / GUDANG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907792"/>
            <a:ext cx="5943600" cy="201167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60" y="2907792"/>
            <a:ext cx="5052059" cy="201167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843784"/>
            <a:ext cx="64008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F765C"/>
                </a:solidFill>
                <a:latin typeface="Calibri"/>
              </a:rPr>
              <a:t>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090672"/>
            <a:ext cx="594360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334455"/>
                </a:solidFill>
                <a:latin typeface="Calibri"/>
              </a:rPr>
              <a:t>MCL / MIF / Stock report berjalan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227832"/>
            <a:ext cx="23774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QC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3291840"/>
            <a:ext cx="5943600" cy="201167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08960" y="3291840"/>
            <a:ext cx="4457700" cy="201167"/>
          </a:xfrm>
          <a:prstGeom prst="rect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3227832"/>
            <a:ext cx="64008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C27A1A"/>
                </a:solidFill>
                <a:latin typeface="Calibri"/>
              </a:rPr>
              <a:t>75%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474720"/>
            <a:ext cx="594360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334455"/>
                </a:solidFill>
                <a:latin typeface="Calibri"/>
              </a:rPr>
              <a:t>Sisa: tambah beberapa form + merapikan Incoming Inspection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611880"/>
            <a:ext cx="23774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FINANCE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3675888"/>
            <a:ext cx="5943600" cy="201167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08960" y="3675888"/>
            <a:ext cx="4160520" cy="201167"/>
          </a:xfrm>
          <a:prstGeom prst="rect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3611880"/>
            <a:ext cx="64008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C27A1A"/>
                </a:solidFill>
                <a:latin typeface="Calibri"/>
              </a:rPr>
              <a:t>70%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3858768"/>
            <a:ext cx="594360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334455"/>
                </a:solidFill>
                <a:latin typeface="Calibri"/>
              </a:rPr>
              <a:t>View &amp; export sudah OK, tinggal Payment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995928"/>
            <a:ext cx="23774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DOC CONTROL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4059936"/>
            <a:ext cx="5943600" cy="201167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08960" y="4059936"/>
            <a:ext cx="5646420" cy="201167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3995928"/>
            <a:ext cx="64008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F765C"/>
                </a:solidFill>
                <a:latin typeface="Calibri"/>
              </a:rPr>
              <a:t>95%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4242816"/>
            <a:ext cx="594360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334455"/>
                </a:solidFill>
                <a:latin typeface="Calibri"/>
              </a:rPr>
              <a:t>DC Stamp + SO Stamp + Controlled DB sudah lengkap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379976"/>
            <a:ext cx="23774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ADMIN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4443984"/>
            <a:ext cx="5943600" cy="201167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08960" y="4443984"/>
            <a:ext cx="5646420" cy="201167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280" y="4379976"/>
            <a:ext cx="64008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F765C"/>
                </a:solidFill>
                <a:latin typeface="Calibri"/>
              </a:rPr>
              <a:t>95%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4626864"/>
            <a:ext cx="594360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334455"/>
                </a:solidFill>
                <a:latin typeface="Calibri"/>
              </a:rPr>
              <a:t>User Management + Role + Audit Logs — mature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764024"/>
            <a:ext cx="23774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PRODUKSI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4828032"/>
            <a:ext cx="5943600" cy="201167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8280" y="4764024"/>
            <a:ext cx="64008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B22A2E"/>
                </a:solidFill>
                <a:latin typeface="Calibri"/>
              </a:rPr>
              <a:t>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5010912"/>
            <a:ext cx="594360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334455"/>
                </a:solidFill>
                <a:latin typeface="Calibri"/>
              </a:rPr>
              <a:t>Belum dibuat — rencana kedepan (Work Order + Track)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5148072"/>
            <a:ext cx="23774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DELIVERY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08960" y="5212080"/>
            <a:ext cx="5943600" cy="201167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98280" y="5148072"/>
            <a:ext cx="64008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B22A2E"/>
                </a:solidFill>
                <a:latin typeface="Calibri"/>
              </a:rPr>
              <a:t>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8960" y="5394960"/>
            <a:ext cx="594360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334455"/>
                </a:solidFill>
                <a:latin typeface="Calibri"/>
              </a:rPr>
              <a:t>Belum dibuat — rencana kedepan (Surat Jalan + Track Kirim)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532120"/>
            <a:ext cx="23774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HRD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0" y="5596128"/>
            <a:ext cx="5943600" cy="201167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5532120"/>
            <a:ext cx="64008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647487"/>
                </a:solidFill>
                <a:latin typeface="Calibri"/>
              </a:rPr>
              <a:t>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08960" y="5779008"/>
            <a:ext cx="594360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334455"/>
                </a:solidFill>
                <a:latin typeface="Calibri"/>
              </a:rPr>
              <a:t>Potensi kedepan — Absensi, Cuti, KPI (selain data salary)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6144768"/>
            <a:ext cx="11201400" cy="45720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6144768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C27A1A"/>
                </a:solidFill>
                <a:latin typeface="Calibri"/>
              </a:rPr>
              <a:t>Rata-rata departemen yang sudah dibangun:  84%  ·  3 modul baru (Produksi · Delivery · HRD) menunggu roadmap fase berikutnya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7"/>
                </a:solidFill>
                <a:latin typeface="Calibri"/>
              </a:rPr>
              <a:t>MKS Management System · Digital ERP Initiative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7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5C"/>
                </a:solidFill>
                <a:latin typeface="Calibri"/>
              </a:rPr>
              <a:t>SLIDE 11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Yang Sedang Direncanakan — Q3 &amp; Q4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7033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3703320" cy="640080"/>
          </a:xfrm>
          <a:prstGeom prst="rect">
            <a:avLst/>
          </a:prstGeom>
          <a:solidFill>
            <a:srgbClr val="B2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7033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P0 · SISA MERAPIKAN (Q1)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Sales: Rapikan Drawing Request Form (MKS-F-ENG-001)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37560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Engineering: Engineering Change Notice (ECN) 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Engineering: Engineering Change Report (ECR) 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92040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QC: Rapikan Incoming Inspection + form pendukung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669279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669279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Telegram Bot Notification — alert approval offline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1737360"/>
            <a:ext cx="37033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59" y="1737360"/>
            <a:ext cx="3703320" cy="640080"/>
          </a:xfrm>
          <a:prstGeom prst="rect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59" y="1737360"/>
            <a:ext cx="37033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P1 · PRIORITY 1 (Q2)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2560320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19" y="2560320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Modul PRODUKSI — Work Order + Progress Tracking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3337560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19" y="3337560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Modul DELIVERY — Surat Jalan + Track Kirim ke Customer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59" y="4114800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19" y="4114800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Multi-Supplier Comparison di Material Costing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4892040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19" y="4892040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Cost Simulator Card di Engineering Costing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59" y="5669279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19" y="5669279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AI PO Reader — upload PDF PO, auto-extract (GPT)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1737360"/>
            <a:ext cx="37033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1737360"/>
            <a:ext cx="3703320" cy="64008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1737360"/>
            <a:ext cx="37033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P2 · FASE BERIKUTNYA (Q3)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2560320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2560320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Modul HRD — Absensi, Cuti, KPI, Training log (selain salary)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337560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3337560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Auto-Sync BOM Items dari Excel Costing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114800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4114800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Payment Tracking / Invoice Status di Finance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4892040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4892040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Mobile app companion — approval on-the-go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5669279"/>
            <a:ext cx="3246120" cy="64008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5669279"/>
            <a:ext cx="3063239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Dashboard Executive — KPI real-time semua dept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7"/>
                </a:solidFill>
                <a:latin typeface="Calibri"/>
              </a:rPr>
              <a:t>MKS Management System · Digital ERP Initiative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7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5C"/>
                </a:solidFill>
                <a:latin typeface="Calibri"/>
              </a:rPr>
              <a:t>SLIDE 12 · DAMPAK BISNIS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Estimasi Impact — Waktu &amp; Biaya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201400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9260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783080"/>
            <a:ext cx="2651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SEBELUM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2651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SESUDAH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78308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SAVING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86000"/>
            <a:ext cx="11201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2926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Approval Drawing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86000"/>
            <a:ext cx="26517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4455"/>
                </a:solidFill>
                <a:latin typeface="Calibri"/>
              </a:rPr>
              <a:t>3–5 hari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286000"/>
            <a:ext cx="26517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4455"/>
                </a:solidFill>
                <a:latin typeface="Calibri"/>
              </a:rPr>
              <a:t>&lt; 1 jam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28600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765C"/>
                </a:solidFill>
                <a:latin typeface="Calibri"/>
              </a:rPr>
              <a:t>~95% waktu hemat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17520"/>
            <a:ext cx="11201400" cy="73152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2926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Cetak kertas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017520"/>
            <a:ext cx="26517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4455"/>
                </a:solidFill>
                <a:latin typeface="Calibri"/>
              </a:rPr>
              <a:t>± 500 lembar / bulan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017520"/>
            <a:ext cx="26517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4455"/>
                </a:solidFill>
                <a:latin typeface="Calibri"/>
              </a:rPr>
              <a:t>0 lembar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01752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765C"/>
                </a:solidFill>
                <a:latin typeface="Calibri"/>
              </a:rPr>
              <a:t>~ Rp 500K / bulan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11201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49040"/>
            <a:ext cx="2926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Salah beli material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749040"/>
            <a:ext cx="26517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4455"/>
                </a:solidFill>
                <a:latin typeface="Calibri"/>
              </a:rPr>
              <a:t>2–3× / bulan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749040"/>
            <a:ext cx="26517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4455"/>
                </a:solidFill>
                <a:latin typeface="Calibri"/>
              </a:rPr>
              <a:t>~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74904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C27A1A"/>
                </a:solidFill>
                <a:latin typeface="Calibri"/>
              </a:rPr>
              <a:t>Rp 5–10 juta / bulan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480560"/>
            <a:ext cx="11201400" cy="73152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480560"/>
            <a:ext cx="2926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Waktu audit ISO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480560"/>
            <a:ext cx="26517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4455"/>
                </a:solidFill>
                <a:latin typeface="Calibri"/>
              </a:rPr>
              <a:t>2–3 hari manual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480560"/>
            <a:ext cx="26517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4455"/>
                </a:solidFill>
                <a:latin typeface="Calibri"/>
              </a:rPr>
              <a:t>1 jam auto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48056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C27A1A"/>
                </a:solidFill>
                <a:latin typeface="Calibri"/>
              </a:rPr>
              <a:t>Rp 3–5 juta / tahun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12080"/>
            <a:ext cx="11201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212080"/>
            <a:ext cx="2926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Investasi ERP vendor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5212080"/>
            <a:ext cx="26517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4455"/>
                </a:solidFill>
                <a:latin typeface="Calibri"/>
              </a:rPr>
              <a:t>Rp 200–500 jt + lisensi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212080"/>
            <a:ext cx="26517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334455"/>
                </a:solidFill>
                <a:latin typeface="Calibri"/>
              </a:rPr>
              <a:t>Rp 0 (in-house)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521208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B22A2E"/>
                </a:solidFill>
                <a:latin typeface="Calibri"/>
              </a:rPr>
              <a:t>&gt; Rp 200 juta hemat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7"/>
                </a:solidFill>
                <a:latin typeface="Calibri"/>
              </a:rPr>
              <a:t>MKS Management System · Digital ERP Initiative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7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5C"/>
                </a:solidFill>
                <a:latin typeface="Calibri"/>
              </a:rPr>
              <a:t>SLIDE 13 · 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Kenapa Ini Investasi Berharga?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19456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2194560" cy="10972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19456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C27A1A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19202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Full custom untuk proses MKS — bukan sistem generik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691640"/>
            <a:ext cx="219456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1691640"/>
            <a:ext cx="2194560" cy="10972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691640"/>
            <a:ext cx="219456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C27A1A"/>
                </a:solidFill>
                <a:latin typeface="Calibri"/>
              </a:rPr>
              <a:t>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19202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Bisa berkembang — Purchasing bisa develop fitur baru sesuai kebutuhan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691640"/>
            <a:ext cx="219456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1691640"/>
            <a:ext cx="2194560" cy="10972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691640"/>
            <a:ext cx="219456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C27A1A"/>
                </a:solidFill>
                <a:latin typeface="Calibri"/>
              </a:rPr>
              <a:t>Rp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926080"/>
            <a:ext cx="19202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Data 100% milik MKS — tidak tergantung vendor eksternal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691640"/>
            <a:ext cx="219456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1691640"/>
            <a:ext cx="2194560" cy="10972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1691640"/>
            <a:ext cx="219456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C27A1A"/>
                </a:solidFill>
                <a:latin typeface="Calibri"/>
              </a:rPr>
              <a:t>8 hari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926080"/>
            <a:ext cx="19202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Sudah works end-to-end — siap dipakai testing hari ini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1691640"/>
            <a:ext cx="219456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1691640"/>
            <a:ext cx="2194560" cy="10972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691640"/>
            <a:ext cx="219456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C27A1A"/>
                </a:solidFill>
                <a:latin typeface="Calibri"/>
              </a:rPr>
              <a:t>ERP+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926080"/>
            <a:ext cx="19202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Calibri"/>
              </a:rPr>
              <a:t>Foundation untuk fitur lain: HR, Payment tracking, Finance ledger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37760"/>
            <a:ext cx="11109960" cy="1280160"/>
          </a:xfrm>
          <a:prstGeom prst="rect">
            <a:avLst/>
          </a:prstGeom>
          <a:solidFill>
            <a:srgbClr val="D1E8E0"/>
          </a:solidFill>
          <a:ln>
            <a:solidFill>
              <a:srgbClr val="0F7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765C"/>
                </a:solidFill>
                <a:latin typeface="Calibri"/>
              </a:rPr>
              <a:t>KAMI BUTUH SUPPORT DARI MANAJEMEN: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39496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✓  Persetujuan pilot deployment di 2–3 dept dulu (Sales + Eng + Doc Control)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✓  Waktu training user (2–3 jam per role)     ✓  Feedback loop mingguan agar sistem tetap sesuai lapangan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7"/>
                </a:solidFill>
                <a:latin typeface="Calibri"/>
              </a:rPr>
              <a:t>MKS Management System · Digital ERP Initiative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7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5C"/>
                </a:solidFill>
                <a:latin typeface="Calibri"/>
              </a:rPr>
              <a:t>SLIDE 14 · DEMO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Skenario Demo — 10 Menit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" cy="45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532120" cy="44805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27A1A"/>
                </a:solidFill>
                <a:latin typeface="Calibri"/>
              </a:rPr>
              <a:t>LIVE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supply-hub-159.preview.emergentagent.com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27A1A"/>
                </a:solidFill>
                <a:latin typeface="Calibri"/>
              </a:rPr>
              <a:t>TEST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1E8E0"/>
                </a:solidFill>
                <a:latin typeface="Calibri"/>
              </a:rPr>
              <a:t>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461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nicholas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2461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8C2CC"/>
                </a:solidFill>
                <a:latin typeface="Consolas"/>
              </a:rPr>
              <a:t>sales12345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30168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1E8E0"/>
                </a:solidFill>
                <a:latin typeface="Calibri"/>
              </a:rPr>
              <a:t>Eng 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630168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riski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63016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8C2CC"/>
                </a:solidFill>
                <a:latin typeface="Consolas"/>
              </a:rPr>
              <a:t>riski123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14215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1E8E0"/>
                </a:solidFill>
                <a:latin typeface="Calibri"/>
              </a:rPr>
              <a:t>Eng 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014215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trisna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4014215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8C2CC"/>
                </a:solidFill>
                <a:latin typeface="Consolas"/>
              </a:rPr>
              <a:t>trisna123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98264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1E8E0"/>
                </a:solidFill>
                <a:latin typeface="Calibri"/>
              </a:rPr>
              <a:t>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398264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qc01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398264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8C2CC"/>
                </a:solidFill>
                <a:latin typeface="Consolas"/>
              </a:rPr>
              <a:t>qc12345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8231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1E8E0"/>
                </a:solidFill>
                <a:latin typeface="Calibri"/>
              </a:rPr>
              <a:t>Doc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78231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salma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478231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8C2CC"/>
                </a:solidFill>
                <a:latin typeface="Consolas"/>
              </a:rPr>
              <a:t>salma123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6636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1E8E0"/>
                </a:solidFill>
                <a:latin typeface="Calibri"/>
              </a:rPr>
              <a:t>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16636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susanto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51663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8C2CC"/>
                </a:solidFill>
                <a:latin typeface="Consolas"/>
              </a:rPr>
              <a:t>admin123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737360"/>
            <a:ext cx="55321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9202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765C"/>
                </a:solidFill>
                <a:latin typeface="Calibri"/>
              </a:rPr>
              <a:t>SKENARIO DEMO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2331720"/>
            <a:ext cx="640080" cy="64008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23317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331720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Sales buat Drawing Request 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651760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Login nicholas → Sales Portal → Buat DRF baru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3108960"/>
            <a:ext cx="640080" cy="64008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1089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3108960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Eng Head Accept + Assign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429000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Login riski → DRF Inbox → Assign ke trisna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3886200"/>
            <a:ext cx="640080" cy="64008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38862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3886200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Eng Staff buat Drawing + Upload PDF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4206240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Login trisna → My Assignments → Create Drawing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4663440"/>
            <a:ext cx="640080" cy="64008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466344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4663440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Approval Flow TTD Digital 3-stage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983480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Riski → QC01 → Nicholas TTD berurutan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5440679"/>
            <a:ext cx="640080" cy="640080"/>
          </a:xfrm>
          <a:prstGeom prst="rect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5440679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2'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5440679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Calibri"/>
              </a:rPr>
              <a:t>Salma DC Stamp + SO Stamp Produksi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760719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Calibri"/>
              </a:rPr>
              <a:t>Login salma → Doc Control Portal → Stamp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7"/>
                </a:solidFill>
                <a:latin typeface="Calibri"/>
              </a:rPr>
              <a:t>MKS Management System · Digital ERP Initiative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7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0" y="5029200"/>
            <a:ext cx="3200400" cy="1828800"/>
          </a:xfrm>
          <a:prstGeom prst="rtTriangle">
            <a:avLst/>
          </a:prstGeom>
          <a:solidFill>
            <a:srgbClr val="0F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9144000" y="0"/>
            <a:ext cx="3017520" cy="2286000"/>
          </a:xfrm>
          <a:prstGeom prst="rtTriangle">
            <a:avLst/>
          </a:prstGeom>
          <a:solidFill>
            <a:srgbClr val="C2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  <a:latin typeface="Calibri"/>
              </a:rPr>
              <a:t>Terima Kasih.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C27A1A"/>
                </a:solidFill>
                <a:latin typeface="Calibri"/>
              </a:rPr>
              <a:t>Pertanyaan · Feedback · Diskusi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B8C2CC"/>
                </a:solidFill>
                <a:latin typeface="Calibri"/>
              </a:rPr>
              <a:t>Purchasing Department · PT. Mitra Karya Sarana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D1E8E0"/>
                </a:solidFill>
                <a:latin typeface="Calibri"/>
              </a:rPr>
              <a:t>"Sistem dibangun dari 0 dalam 8 hari — transformasi digital tidak selalu butuh vendor mahal."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